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microsoft.com/office/2011/relationships/webextensiontaskpanes" Target="ppt/webextensions/taskpanes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4592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0"/>
            <a:ext cx="91440" cy="6858000"/>
          </a:xfrm>
          <a:prstGeom prst="rect">
            <a:avLst/>
          </a:prstGeom>
          <a:solidFill>
            <a:srgbClr val="5C9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9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RETAIL ANALYTICS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BigBasket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Purchase &amp; Market Basket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92608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B9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Analysis of 62,141 transaction records across 106 customers and 8,387 orders  ·  March 2011 – December 2014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2/10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A loyal, high-frequency customer base.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Every one of the 106 customers placed multiple orders — a 100% repeat rate, averaging 79 orders each. This is a recurring-order grocery base, not one-off shoppers.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Fresh produce drives demand.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Vegetables and dals dominate the catalog; the top 10 categories account for 52.8% of all purchase records.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Clear cross-sell &amp; retention plays.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Strong product affinities (Almonds↔Cashews, the dal family) and a 21-customer at-risk group define the next actions.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600200"/>
            <a:ext cx="73152" cy="1600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728216"/>
            <a:ext cx="2011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949440" y="2560320"/>
            <a:ext cx="2011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Repeat customer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16002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0" y="1600200"/>
            <a:ext cx="73152" cy="1600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1728216"/>
            <a:ext cx="2011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79.1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509760" y="2560320"/>
            <a:ext cx="2011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 orders / customer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4290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3429000"/>
            <a:ext cx="73152" cy="1600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557016"/>
            <a:ext cx="2011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7.41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49440" y="4389120"/>
            <a:ext cx="2011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 per order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34290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429000"/>
            <a:ext cx="73152" cy="160020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3557016"/>
            <a:ext cx="2011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9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52.8%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509760" y="4389120"/>
            <a:ext cx="2011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Top-10 category share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· 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Scope, Data &amp; Method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3/10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8" name="Image 0" descr="artifacts/.metadata/BigBasket_Analysis.pptx/icon_0ttphonthbw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" y="19568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562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datasets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251460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bigBasket.csv — primary, 62,141 rows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IMB575-XLS-ENG.csv — customer-category support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Memberdata.csv — single-customer (M09736) case study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828800"/>
            <a:ext cx="566928" cy="566928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13" name="Image 1" descr="artifacts/.metadata/BigBasket_Analysis.pptx/icon_paykzg3ltb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5976" y="195681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8562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columns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56248" y="251460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 · Order · SKU · Created On · Description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106 customers, 8,387 orders, 1,732 SKUs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216 distinct product categories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18" name="Image 2" descr="artifacts/.metadata/BigBasket_Analysis.pptx/icon_qt18tpddqa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76" y="447141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3708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Cleaning performed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" y="502920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Mixed dates fixed: 36,569 Excel serials + 25,572 strings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standardized — zero unparseable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Zero missing values, zero exact duplicates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0690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23" name="Image 3" descr="artifacts/.metadata/BigBasket_Analysis.pptx/icon_97wfepvhwxa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5976" y="447141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3708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constraint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56248" y="502920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price, quantity, or cost fields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 / AOV / margin / CLV not computable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is a descriptive behavioral analysis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·  KPIs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4/10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17373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2821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8,387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64261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600200"/>
            <a:ext cx="73152" cy="1737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72821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02152" y="264261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600200"/>
            <a:ext cx="73152" cy="1737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72821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1,732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72784" y="264261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SKUs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0536" y="160020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0536" y="1600200"/>
            <a:ext cx="73152" cy="1737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9043416" y="172821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043416" y="264261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566160"/>
            <a:ext cx="73152" cy="1737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9417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62,141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31520" y="460857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records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9272" y="356616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9272" y="3566160"/>
            <a:ext cx="73152" cy="173736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28" name="Text 26"/>
          <p:cNvSpPr/>
          <p:nvPr/>
        </p:nvSpPr>
        <p:spPr>
          <a:xfrm>
            <a:off x="3502152" y="369417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9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7.41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502152" y="460857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 per order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9904" y="356616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3566160"/>
            <a:ext cx="73152" cy="173736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369417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9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79.12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272784" y="460857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 per customer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0536" y="3566160"/>
            <a:ext cx="2615184" cy="1737360"/>
          </a:xfrm>
          <a:prstGeom prst="roundRect">
            <a:avLst>
              <a:gd name="adj" fmla="val 4211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0536" y="3566160"/>
            <a:ext cx="73152" cy="17373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6" name="Text 34"/>
          <p:cNvSpPr/>
          <p:nvPr/>
        </p:nvSpPr>
        <p:spPr>
          <a:xfrm>
            <a:off x="9043416" y="3694176"/>
            <a:ext cx="229514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9043416" y="4608576"/>
            <a:ext cx="229514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Repeat customer 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Revenue-based KPIs (AOV, margin, CLV) are not computable — the dataset has no price or quantity fields.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·  CATEGORIES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Popular Product Categories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5/10</a:t>
            </a:r>
            <a:endParaRPr lang="en-US" sz="900" dirty="0"/>
          </a:p>
        </p:txBody>
      </p:sp>
      <p:pic>
        <p:nvPicPr>
          <p:cNvPr id="6" name="Image 0" descr="artifacts/charts/top_categories.png">    </p:cNvPr>
          <p:cNvPicPr>
            <a:picLocks noChangeAspect="1"/>
          </p:cNvPicPr>
          <p:nvPr/>
        </p:nvPicPr>
        <p:blipFill>
          <a:blip r:embed="rId1"/>
          <a:srcRect l="-28431" r="-28431" t="0" b="0"/>
          <a:stretch/>
        </p:blipFill>
        <p:spPr>
          <a:xfrm>
            <a:off x="4114800" y="1554480"/>
            <a:ext cx="731520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Fresh produce leads.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</a:rPr>
              <a:t>Other Vegetables (4,606), Beans (4,549) and Root Vegetables (4,303) are the three most-purchased categories.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</a:rPr>
              <a:t>The top 10 categories make up 52.8% of all purchase records — demand is concentrated in vegetables, dals and staples.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·  TRENDS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Purchasing Trends Over 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6/10</a:t>
            </a:r>
            <a:endParaRPr lang="en-US" sz="900" dirty="0"/>
          </a:p>
        </p:txBody>
      </p:sp>
      <p:pic>
        <p:nvPicPr>
          <p:cNvPr id="6" name="Image 0" descr="artifacts/charts/monthly_trend.png">    </p:cNvPr>
          <p:cNvPicPr>
            <a:picLocks noChangeAspect="1"/>
          </p:cNvPicPr>
          <p:nvPr/>
        </p:nvPicPr>
        <p:blipFill>
          <a:blip r:embed="rId1"/>
          <a:srcRect l="-58571" r="-58571" t="0" b="0"/>
          <a:stretch/>
        </p:blipFill>
        <p:spPr>
          <a:xfrm>
            <a:off x="548640" y="1600200"/>
            <a:ext cx="6949440" cy="3200400"/>
          </a:xfrm>
          <a:prstGeom prst="rect">
            <a:avLst/>
          </a:prstGeom>
        </p:spPr>
      </p:pic>
      <p:pic>
        <p:nvPicPr>
          <p:cNvPr id="7" name="Image 1" descr="artifacts/charts/yearly_orders.png">    </p:cNvPr>
          <p:cNvPicPr>
            <a:picLocks noChangeAspect="1"/>
          </p:cNvPicPr>
          <p:nvPr/>
        </p:nvPicPr>
        <p:blipFill>
          <a:blip r:embed="rId2"/>
          <a:srcRect l="-21667" r="-21667" t="0" b="0"/>
          <a:stretch/>
        </p:blipFill>
        <p:spPr>
          <a:xfrm>
            <a:off x="7680960" y="1600200"/>
            <a:ext cx="393192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 ramped sharply from 1,291 (2012) to 3,802 (2013) as the base matured, then held at 3,274 in 2014. 41 months of activity, March 2011 – December 2014.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 ·  MARKET BASKET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Basket Analysis — What Sells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7/10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Highest-lift affinities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48463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Pair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Lift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Conf.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Almonds ↔ Cashews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5.63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35%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Snacky Nuts → Namkeen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3.67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54%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Urad Dal ↔ Boiled Rice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3.24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33%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Urad Dal ↔ Toor Dal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3.12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48%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Moong Dal ↔ Other Dals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2.46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57%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cross-sell layers: high-lift niche bundles (nuts, dals) and high-volume staple pairs (vegetables co-occur in ~24% of orders).</a:t>
            </a:r>
            <a:endParaRPr lang="en-US" sz="1150" dirty="0"/>
          </a:p>
        </p:txBody>
      </p:sp>
      <p:pic>
        <p:nvPicPr>
          <p:cNvPr id="9" name="Image 0" descr="artifacts/charts/top_pairs.png">    </p:cNvPr>
          <p:cNvPicPr>
            <a:picLocks noChangeAspect="1"/>
          </p:cNvPicPr>
          <p:nvPr/>
        </p:nvPicPr>
        <p:blipFill>
          <a:blip r:embed="rId1"/>
          <a:srcRect l="-16327" r="-16327" t="0" b="0"/>
          <a:stretch/>
        </p:blipFill>
        <p:spPr>
          <a:xfrm>
            <a:off x="5669280" y="1600200"/>
            <a:ext cx="59436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 ·  SEGMENTS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8/10</a:t>
            </a:r>
            <a:endParaRPr lang="en-US" sz="900" dirty="0"/>
          </a:p>
        </p:txBody>
      </p:sp>
      <p:pic>
        <p:nvPicPr>
          <p:cNvPr id="6" name="Image 0" descr="artifacts/charts/segments.png">    </p:cNvPr>
          <p:cNvPicPr>
            <a:picLocks noChangeAspect="1"/>
          </p:cNvPicPr>
          <p:nvPr/>
        </p:nvPicPr>
        <p:blipFill>
          <a:blip r:embed="rId1"/>
          <a:srcRect l="-23810" r="-23810" t="0" b="0"/>
          <a:stretch/>
        </p:blipFill>
        <p:spPr>
          <a:xfrm>
            <a:off x="548640" y="1645920"/>
            <a:ext cx="56692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64592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1645920"/>
            <a:ext cx="73152" cy="10241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6"/>
          <p:cNvSpPr/>
          <p:nvPr/>
        </p:nvSpPr>
        <p:spPr>
          <a:xfrm>
            <a:off x="6601968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 · Champions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1968" y="20299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 107 orders, 3.6 days since last order. Reward &amp; retain.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283464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2834640"/>
            <a:ext cx="73152" cy="102412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3" name="Text 10"/>
          <p:cNvSpPr/>
          <p:nvPr/>
        </p:nvSpPr>
        <p:spPr>
          <a:xfrm>
            <a:off x="6601968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· At-Risk Loyal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01968" y="32186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 97 orders but ~52 days lapsed. Highest win-back priority.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0" y="402336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4023360"/>
            <a:ext cx="73152" cy="1024128"/>
          </a:xfrm>
          <a:prstGeom prst="rect">
            <a:avLst/>
          </a:prstGeom>
          <a:solidFill>
            <a:srgbClr val="5C9BFF"/>
          </a:solidFill>
          <a:ln/>
        </p:spPr>
      </p:sp>
      <p:sp>
        <p:nvSpPr>
          <p:cNvPr id="17" name="Text 14"/>
          <p:cNvSpPr/>
          <p:nvPr/>
        </p:nvSpPr>
        <p:spPr>
          <a:xfrm>
            <a:off x="6601968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· Promising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01968" y="44074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Recent but lower frequency. Nurture to grow order count.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5212080"/>
            <a:ext cx="5212080" cy="1024128"/>
          </a:xfrm>
          <a:prstGeom prst="roundRect">
            <a:avLst>
              <a:gd name="adj" fmla="val 5357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5212080"/>
            <a:ext cx="73152" cy="10241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8"/>
          <p:cNvSpPr/>
          <p:nvPr/>
        </p:nvSpPr>
        <p:spPr>
          <a:xfrm>
            <a:off x="6601968" y="5303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 · Needs Attention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01968" y="55961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frequency and lapsing. Re-engage with targeted offers.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 · 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9/10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10512"/>
            <a:ext cx="530352" cy="530352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8" name="Image 0" descr="artifacts/.metadata/BigBasket_Analysis.pptx/icon_vpfrw9p3cm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192938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Cross-sell bundles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Bundle high-lift pairs: Almonds+Cashews, dal combos (Urad+Toor+Moong), Snacky Nuts+Namkeen.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1810512"/>
            <a:ext cx="530352" cy="530352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13" name="Image 1" descr="artifacts/.metadata/BigBasket_Analysis.pptx/icon_ox1vns3hjg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2584" y="192938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Win-back campaign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2468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the 21 At-Risk Loyal customers — historically frequent, now lapsing ~52 days.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02752" y="1810512"/>
            <a:ext cx="530352" cy="530352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18" name="Image 2" descr="artifacts/.metadata/BigBasket_Analysis.pptx/icon_onlhfafd1ij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192938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Inventory focus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21040" y="2468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Prioritize always-on stock for fresh produce — it anchors ~24% of all baskets.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904488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04672" y="4160520"/>
            <a:ext cx="530352" cy="530352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23" name="Image 3" descr="artifacts/.metadata/BigBasket_Analysis.pptx/icon_a2ebeaul5gj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544" y="427939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178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 Promising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22960" y="481888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Nurture the Promising segment with frequency incentives and reorder nudges.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3904488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53712" y="4160520"/>
            <a:ext cx="530352" cy="530352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28" name="Image 4" descr="artifacts/.metadata/BigBasket_Analysis.pptx/icon_c9h99tog12s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2584" y="427939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30368" y="4178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 promos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72000" y="481888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promotions across vegetables &amp; dals where demand is concentrated.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46720" y="3904488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FEFEF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02752" y="4160520"/>
            <a:ext cx="530352" cy="530352"/>
          </a:xfrm>
          <a:prstGeom prst="ellipse">
            <a:avLst/>
          </a:prstGeom>
          <a:solidFill>
            <a:srgbClr val="0066FF"/>
          </a:solidFill>
          <a:ln/>
        </p:spPr>
      </p:sp>
      <p:pic>
        <p:nvPicPr>
          <p:cNvPr id="33" name="Image 5" descr="artifacts/.metadata/BigBasket_Analysis.pptx/icon_2akkp4fx0n5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21624" y="4279392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79408" y="41788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 price &amp; qty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321040" y="481888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price, quantity and cost to unlock revenue, AOV, margin and CLV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 ·  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Deliverables &amp; Limitations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BigBasket Analytics</a:t>
            </a:r>
            <a:pPr algn="l" indent="0" marL="0">
              <a:buNone/>
            </a:pPr>
            <a:r>
              <a:rPr lang="en-US" sz="900" dirty="0">
                <a:solidFill>
                  <a:srgbClr val="D8D8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10/10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Deliverables produced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Cleaned, standardized transaction dataset (CSV)</a:t>
            </a:r>
            <a:endParaRPr lang="en-US" sz="1250" dirty="0"/>
          </a:p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Excel analytics workbook — 8 sheets, ready for Power BI / Tableau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KPIs · Categories · Monthly &amp; Yearly Trends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Customers · Segments · MBA Rules · Top Pairs</a:t>
            </a:r>
            <a:endParaRPr lang="en-US" sz="1250" dirty="0"/>
          </a:p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insights report (PowerPoint)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EFEFEF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91440" cy="393192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▪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pricing or quantity data — revenue, profit and margin cannot be measured.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▪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106 customers — results may not generalize to the full business.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▪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Repeat-order behavior is a retention proxy, not a cohort-based retention rate.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▪"/>
            </a:pPr>
            <a:r>
              <a:rPr lang="en-US" sz="115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Associations are descriptive correlations — they do not prove causation.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4E2DD9-EF8C-411D-BB19-7C4951B7FBD7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BigBasket: Customer Purchase &amp; Market Basket Analysis</dc:title>
  <dc:subject>PptxGenJS Presentation</dc:subject>
  <dc:creator>Amazon Quick</dc:creator>
  <cp:lastModifiedBy>Amazon Quick</cp:lastModifiedBy>
  <cp:revision>1</cp:revision>
  <dcterms:created xsi:type="dcterms:W3CDTF">2026-10-21T16:28:32Z</dcterms:created>
  <dcterms:modified xsi:type="dcterms:W3CDTF">2026-10-21T16:28:32Z</dcterms:modified>
</cp:coreProperties>
</file>